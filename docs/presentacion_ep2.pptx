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una frase: construimos un asistente de seguros que responde SOLO con el manual del asegurado. En la EP1 era un RAG léxico; en la EP2 agregamos recuperación con embeddings, agentes con herramientas, memoria y registro de siniestros. Voy a mostrar qué es, cómo funciona y su valor.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una frase: la EP1 era un RAG léxico que respondía con el manual; la EP2 son agentes. Sumamos recuperación híbrida con embeddings, orquestación de agentes (multi-agente y único), seis herramientas incluida la escritura, planificación plan→execute y memoria en dos niveles. El modelo pasó de Qwen3 remoto (Groq) a Qwen2.5 local, por privacidad, coste y funcionamiento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una frase: es un asistente de seguros que responde solo con el manual. En la EP1 era un RAG léxico; en la EP2 suma recuperación con embeddings, agentes con herramientas y memoria. Además de responder, ahora puede registrar siniestros y entregar un folio.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flujo: entra la consulta, un supervisor la clasifica y arma un plan de pasos, un ejecutor invoca las herramientas por código (manual, UF, talleres y escritura) y una composición con Qwen2.5 redacta con el contexto hallado. La recuperación es híbrida (embeddings + léxico) y la memoria de corto plazo conserva los últimos 5 turnos.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valor: todo está respaldado por el manual (fundamentado), la traza permite verificar los datos, si la respuesta no está en el manual lo dice (sin inventar) y eso entrega transparencia y confianza. Quedo atento 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874519"/>
            <a:ext cx="82296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26080"/>
            <a:ext cx="109115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11827"/>
                </a:solidFill>
                <a:latin typeface="Arial"/>
              </a:rPr>
              <a:t>Asistente Inteligente de Seguros</a:t>
            </a:r>
          </a:p>
          <a:p>
            <a:r>
              <a:rPr sz="1900" b="0" i="0">
                <a:solidFill>
                  <a:srgbClr val="4B5563"/>
                </a:solidFill>
                <a:latin typeface="Arial"/>
              </a:rPr>
              <a:t>Seguros Express S.A. · RAG, agentes con herramientas y memoria</a:t>
            </a:r>
          </a:p>
          <a:p>
            <a:pPr>
              <a:spcBef>
                <a:spcPts val="800"/>
              </a:spcBef>
            </a:pPr>
            <a:r>
              <a:rPr sz="1800" b="1" i="0">
                <a:solidFill>
                  <a:srgbClr val="4B5563"/>
                </a:solidFill>
                <a:latin typeface="Arial"/>
              </a:rPr>
              <a:t>Evolución EP1 → EP2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ISY0101 · Ingeniería de Soluciones con IA</a:t>
            </a:r>
          </a:p>
          <a:p>
            <a:r>
              <a:rPr sz="1200" b="1" i="0">
                <a:solidFill>
                  <a:srgbClr val="111827"/>
                </a:solidFill>
                <a:latin typeface="Arial"/>
              </a:rPr>
              <a:t>Nicolás Castillo   ·   Evaluación Parcial 2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Arial"/>
              </a:rPr>
              <a:t>Evolución EP1 → EP2</a:t>
            </a:r>
          </a:p>
          <a:p>
            <a:pPr>
              <a:spcBef>
                <a:spcPts val="600"/>
              </a:spcBef>
            </a:pPr>
            <a:r>
              <a:rPr sz="1500" b="1" i="0">
                <a:solidFill>
                  <a:srgbClr val="4B5563"/>
                </a:solidFill>
                <a:latin typeface="Arial"/>
              </a:rPr>
              <a:t>Seguros Express — Qué cambió y por qué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28800"/>
            <a:ext cx="10911535" cy="9525"/>
          </a:xfrm>
          <a:prstGeom prst="rect">
            <a:avLst/>
          </a:prstGeom>
          <a:solidFill>
            <a:srgbClr val="E2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011680"/>
          <a:ext cx="10911533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7558"/>
                <a:gridCol w="2633818"/>
                <a:gridCol w="6020157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R="73152" marT="36576" marB="36576" anchor="ctr">
                    <a:solidFill>
                      <a:srgbClr val="4B55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EP1</a:t>
                      </a:r>
                    </a:p>
                  </a:txBody>
                  <a:tcPr marL="109728" marR="73152" marT="36576" marB="36576" anchor="ctr">
                    <a:solidFill>
                      <a:srgbClr val="4B55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EP2</a:t>
                      </a:r>
                    </a:p>
                  </a:txBody>
                  <a:tcPr marL="109728" marR="73152" marT="36576" marB="36576" anchor="ctr">
                    <a:solidFill>
                      <a:srgbClr val="4B556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11827"/>
                          </a:solidFill>
                          <a:latin typeface="Arial"/>
                        </a:rPr>
                        <a:t>Recuperación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4B5563"/>
                          </a:solidFill>
                          <a:latin typeface="Arial"/>
                        </a:rPr>
                        <a:t>Léxica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4B5563"/>
                          </a:solidFill>
                          <a:latin typeface="Arial"/>
                        </a:rPr>
                        <a:t>Híbrida: embeddings + léxico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11827"/>
                          </a:solidFill>
                          <a:latin typeface="Arial"/>
                        </a:rPr>
                        <a:t>Arquitectura</a:t>
                      </a:r>
                    </a:p>
                  </a:txBody>
                  <a:tcPr marL="109728" marR="73152" marT="36576" marB="36576" anchor="ctr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4B5563"/>
                          </a:solidFill>
                          <a:latin typeface="Arial"/>
                        </a:rPr>
                        <a:t>Pipeline RAG</a:t>
                      </a:r>
                    </a:p>
                  </a:txBody>
                  <a:tcPr marL="109728" marR="73152" marT="36576" marB="36576" anchor="ctr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4B5563"/>
                          </a:solidFill>
                          <a:latin typeface="Arial"/>
                        </a:rPr>
                        <a:t>Agentes (multi-agente + único)</a:t>
                      </a:r>
                    </a:p>
                  </a:txBody>
                  <a:tcPr marL="109728" marR="73152" marT="36576" marB="36576" anchor="ctr">
                    <a:solidFill>
                      <a:srgbClr val="F6F6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11827"/>
                          </a:solidFill>
                          <a:latin typeface="Arial"/>
                        </a:rPr>
                        <a:t>Herramientas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4B5563"/>
                          </a:solidFill>
                          <a:latin typeface="Arial"/>
                        </a:rPr>
                        <a:t>2 (consulta)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4B5563"/>
                          </a:solidFill>
                          <a:latin typeface="Arial"/>
                        </a:rPr>
                        <a:t>6 (consulta + escritura)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11827"/>
                          </a:solidFill>
                          <a:latin typeface="Arial"/>
                        </a:rPr>
                        <a:t>Planificación</a:t>
                      </a:r>
                    </a:p>
                  </a:txBody>
                  <a:tcPr marL="109728" marR="73152" marT="36576" marB="36576" anchor="ctr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4B5563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109728" marR="73152" marT="36576" marB="36576" anchor="ctr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4B5563"/>
                          </a:solidFill>
                          <a:latin typeface="Arial"/>
                        </a:rPr>
                        <a:t>Plan → execute</a:t>
                      </a:r>
                    </a:p>
                  </a:txBody>
                  <a:tcPr marL="109728" marR="73152" marT="36576" marB="36576" anchor="ctr">
                    <a:solidFill>
                      <a:srgbClr val="F6F6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11827"/>
                          </a:solidFill>
                          <a:latin typeface="Arial"/>
                        </a:rPr>
                        <a:t>Memoria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4B5563"/>
                          </a:solidFill>
                          <a:latin typeface="Arial"/>
                        </a:rPr>
                        <a:t>5 turnos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4B5563"/>
                          </a:solidFill>
                          <a:latin typeface="Arial"/>
                        </a:rPr>
                        <a:t>Corto + largo plazo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11827"/>
                          </a:solidFill>
                          <a:latin typeface="Arial"/>
                        </a:rPr>
                        <a:t>Modelo</a:t>
                      </a:r>
                    </a:p>
                  </a:txBody>
                  <a:tcPr marL="109728" marR="73152" marT="36576" marB="36576" anchor="ctr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4B5563"/>
                          </a:solidFill>
                          <a:latin typeface="Arial"/>
                        </a:rPr>
                        <a:t>Qwen3 (Groq)</a:t>
                      </a:r>
                    </a:p>
                  </a:txBody>
                  <a:tcPr marL="109728" marR="73152" marT="36576" marB="36576" anchor="ctr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4B5563"/>
                          </a:solidFill>
                          <a:latin typeface="Arial"/>
                        </a:rPr>
                        <a:t>Qwen2.5 local / NVIDIA NIM</a:t>
                      </a:r>
                    </a:p>
                  </a:txBody>
                  <a:tcPr marL="109728" marR="73152" marT="36576" marB="36576" anchor="ctr">
                    <a:solidFill>
                      <a:srgbClr val="F6F6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B5563"/>
                </a:solidFill>
                <a:latin typeface="Arial"/>
              </a:rPr>
              <a:t>De responder con el manual  →  a agentes que consultan, escriben, planifican y recuerdan.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Asistente Inteligente de Seguros · Seguros Express  —  EP1 → EP2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Arial"/>
              </a:rPr>
              <a:t>¿Qué es el Asistente de IA?</a:t>
            </a:r>
          </a:p>
          <a:p>
            <a:pPr>
              <a:spcBef>
                <a:spcPts val="600"/>
              </a:spcBef>
            </a:pPr>
            <a:r>
              <a:rPr sz="1500" b="1" i="0">
                <a:solidFill>
                  <a:srgbClr val="4B5563"/>
                </a:solidFill>
                <a:latin typeface="Arial"/>
              </a:rPr>
              <a:t>Seguros Express — Asistente Virtual con IA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28800"/>
            <a:ext cx="10911535" cy="9525"/>
          </a:xfrm>
          <a:prstGeom prst="rect">
            <a:avLst/>
          </a:prstGeom>
          <a:solidFill>
            <a:srgbClr val="E2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1153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0"/>
              </a:spcAft>
            </a:pPr>
            <a:r>
              <a:rPr sz="1700" b="1" i="0">
                <a:solidFill>
                  <a:srgbClr val="4B5563"/>
                </a:solidFill>
                <a:latin typeface="Arial"/>
              </a:rPr>
              <a:t>•  </a:t>
            </a:r>
            <a:r>
              <a:rPr sz="1700" b="1" i="0">
                <a:solidFill>
                  <a:srgbClr val="111827"/>
                </a:solidFill>
                <a:latin typeface="Arial"/>
              </a:rPr>
              <a:t>Atención conversacional: </a:t>
            </a:r>
            <a:r>
              <a:rPr sz="1700" b="0" i="0">
                <a:solidFill>
                  <a:srgbClr val="4B5563"/>
                </a:solidFill>
                <a:latin typeface="Arial"/>
              </a:rPr>
              <a:t>Atiende a los asegurados de «Seguros Express» de forma directa y clara.</a:t>
            </a:r>
          </a:p>
          <a:p>
            <a:pPr>
              <a:spcAft>
                <a:spcPts val="2000"/>
              </a:spcAft>
            </a:pPr>
            <a:r>
              <a:rPr sz="1700" b="1" i="0">
                <a:solidFill>
                  <a:srgbClr val="4B5563"/>
                </a:solidFill>
                <a:latin typeface="Arial"/>
              </a:rPr>
              <a:t>•  </a:t>
            </a:r>
            <a:r>
              <a:rPr sz="1700" b="1" i="0">
                <a:solidFill>
                  <a:srgbClr val="111827"/>
                </a:solidFill>
                <a:latin typeface="Arial"/>
              </a:rPr>
              <a:t>Respuestas sobre el manual: </a:t>
            </a:r>
            <a:r>
              <a:rPr sz="1700" b="0" i="0">
                <a:solidFill>
                  <a:srgbClr val="4B5563"/>
                </a:solidFill>
                <a:latin typeface="Arial"/>
              </a:rPr>
              <a:t>Resuelve dudas frecuentes del contrato y la póliza usando el manual oficial.</a:t>
            </a:r>
          </a:p>
          <a:p>
            <a:pPr>
              <a:spcAft>
                <a:spcPts val="2000"/>
              </a:spcAft>
            </a:pPr>
            <a:r>
              <a:rPr sz="1700" b="1" i="0">
                <a:solidFill>
                  <a:srgbClr val="4B5563"/>
                </a:solidFill>
                <a:latin typeface="Arial"/>
              </a:rPr>
              <a:t>•  </a:t>
            </a:r>
            <a:r>
              <a:rPr sz="1700" b="1" i="0">
                <a:solidFill>
                  <a:srgbClr val="111827"/>
                </a:solidFill>
                <a:latin typeface="Arial"/>
              </a:rPr>
              <a:t>Cálculo de deducibles: </a:t>
            </a:r>
            <a:r>
              <a:rPr sz="1700" b="0" i="0">
                <a:solidFill>
                  <a:srgbClr val="4B5563"/>
                </a:solidFill>
                <a:latin typeface="Arial"/>
              </a:rPr>
              <a:t>Convierte montos en UF a pesos chilenos con el valor vigente (mindicador.cl).</a:t>
            </a:r>
          </a:p>
          <a:p>
            <a:pPr>
              <a:spcAft>
                <a:spcPts val="2000"/>
              </a:spcAft>
            </a:pPr>
            <a:r>
              <a:rPr sz="1700" b="1" i="0">
                <a:solidFill>
                  <a:srgbClr val="4B5563"/>
                </a:solidFill>
                <a:latin typeface="Arial"/>
              </a:rPr>
              <a:t>•  </a:t>
            </a:r>
            <a:r>
              <a:rPr sz="1700" b="1" i="0">
                <a:solidFill>
                  <a:srgbClr val="111827"/>
                </a:solidFill>
                <a:latin typeface="Arial"/>
              </a:rPr>
              <a:t>Registro de siniestros: </a:t>
            </a:r>
            <a:r>
              <a:rPr sz="1700" b="0" i="0">
                <a:solidFill>
                  <a:srgbClr val="4B5563"/>
                </a:solidFill>
                <a:latin typeface="Arial"/>
              </a:rPr>
              <a:t>Ante un siniestro, lo deja registrado y entrega un folio de seguimiento.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Asistente Inteligente de Seguros · Seguros Express  —  EP1 → EP2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Arial"/>
              </a:rPr>
              <a:t>¿Cómo funciona el Sistema? (Agentes)</a:t>
            </a:r>
          </a:p>
          <a:p>
            <a:pPr>
              <a:spcBef>
                <a:spcPts val="600"/>
              </a:spcBef>
            </a:pPr>
            <a:r>
              <a:rPr sz="1500" b="1" i="0">
                <a:solidFill>
                  <a:srgbClr val="4B5563"/>
                </a:solidFill>
                <a:latin typeface="Arial"/>
              </a:rPr>
              <a:t>Seguros Express — Arquitectura de Agentes y Herramientas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28800"/>
            <a:ext cx="10911535" cy="9525"/>
          </a:xfrm>
          <a:prstGeom prst="rect">
            <a:avLst/>
          </a:prstGeom>
          <a:solidFill>
            <a:srgbClr val="E2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1874519" cy="822960"/>
          </a:xfrm>
          <a:prstGeom prst="roundRect">
            <a:avLst/>
          </a:prstGeom>
          <a:solidFill>
            <a:srgbClr val="F6F6F7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11827"/>
                </a:solidFill>
                <a:latin typeface="Arial"/>
              </a:rPr>
              <a:t>Asegurado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2887" y="2432304"/>
            <a:ext cx="265176" cy="164592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34639" y="2103120"/>
            <a:ext cx="187451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11827"/>
                </a:solidFill>
                <a:latin typeface="Arial"/>
              </a:rPr>
              <a:t>Supervisor
clasifica + plan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27446" y="2432304"/>
            <a:ext cx="265176" cy="164592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198" y="2103120"/>
            <a:ext cx="187451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11827"/>
                </a:solidFill>
                <a:latin typeface="Arial"/>
              </a:rPr>
              <a:t>Ejecutor
herramientas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922005" y="2432304"/>
            <a:ext cx="265176" cy="164592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23757" y="2103120"/>
            <a:ext cx="187451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11827"/>
                </a:solidFill>
                <a:latin typeface="Arial"/>
              </a:rPr>
              <a:t>Composición
Qwen2.5 (local)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16564" y="2432304"/>
            <a:ext cx="265176" cy="164592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16" y="2103120"/>
            <a:ext cx="1874519" cy="822960"/>
          </a:xfrm>
          <a:prstGeom prst="roundRect">
            <a:avLst/>
          </a:prstGeom>
          <a:solidFill>
            <a:srgbClr val="EEF0F3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11827"/>
                </a:solidFill>
                <a:latin typeface="Arial"/>
              </a:rPr>
              <a:t>Respuesta
fundamentada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1091153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50" b="1" i="0">
                <a:solidFill>
                  <a:srgbClr val="4B5563"/>
                </a:solidFill>
                <a:latin typeface="Arial"/>
              </a:rPr>
              <a:t>•  </a:t>
            </a:r>
            <a:r>
              <a:rPr sz="1350" b="1" i="0">
                <a:solidFill>
                  <a:srgbClr val="111827"/>
                </a:solidFill>
                <a:latin typeface="Arial"/>
              </a:rPr>
              <a:t>Recuperación híbrida: </a:t>
            </a:r>
            <a:r>
              <a:rPr sz="1350" b="0" i="0">
                <a:solidFill>
                  <a:srgbClr val="4B5563"/>
                </a:solidFill>
                <a:latin typeface="Arial"/>
              </a:rPr>
              <a:t>Embeddings (Chroma) para el significado + búsqueda léxica para códigos exactos como 800-500-100.</a:t>
            </a:r>
          </a:p>
          <a:p>
            <a:pPr>
              <a:spcAft>
                <a:spcPts val="1100"/>
              </a:spcAft>
            </a:pPr>
            <a:r>
              <a:rPr sz="1350" b="1" i="0">
                <a:solidFill>
                  <a:srgbClr val="4B5563"/>
                </a:solidFill>
                <a:latin typeface="Arial"/>
              </a:rPr>
              <a:t>•  </a:t>
            </a:r>
            <a:r>
              <a:rPr sz="1350" b="1" i="0">
                <a:solidFill>
                  <a:srgbClr val="111827"/>
                </a:solidFill>
                <a:latin typeface="Arial"/>
              </a:rPr>
              <a:t>Planificación por pasos: </a:t>
            </a:r>
            <a:r>
              <a:rPr sz="1350" b="0" i="0">
                <a:solidFill>
                  <a:srgbClr val="4B5563"/>
                </a:solidFill>
                <a:latin typeface="Arial"/>
              </a:rPr>
              <a:t>El supervisor clasifica la consulta y arma un plan (p. ej. registrar un siniestro + calcular el deducible).</a:t>
            </a:r>
          </a:p>
          <a:p>
            <a:pPr>
              <a:spcAft>
                <a:spcPts val="1100"/>
              </a:spcAft>
            </a:pPr>
            <a:r>
              <a:rPr sz="1350" b="1" i="0">
                <a:solidFill>
                  <a:srgbClr val="4B5563"/>
                </a:solidFill>
                <a:latin typeface="Arial"/>
              </a:rPr>
              <a:t>•  </a:t>
            </a:r>
            <a:r>
              <a:rPr sz="1350" b="1" i="0">
                <a:solidFill>
                  <a:srgbClr val="111827"/>
                </a:solidFill>
                <a:latin typeface="Arial"/>
              </a:rPr>
              <a:t>Ejecución con herramientas: </a:t>
            </a:r>
            <a:r>
              <a:rPr sz="1350" b="0" i="0">
                <a:solidFill>
                  <a:srgbClr val="4B5563"/>
                </a:solidFill>
                <a:latin typeface="Arial"/>
              </a:rPr>
              <a:t>Un ejecutor las invoca en orden: manual, UF, red de talleres y registro de siniestros.</a:t>
            </a:r>
          </a:p>
          <a:p>
            <a:pPr>
              <a:spcAft>
                <a:spcPts val="1100"/>
              </a:spcAft>
            </a:pPr>
            <a:r>
              <a:rPr sz="1350" b="1" i="0">
                <a:solidFill>
                  <a:srgbClr val="4B5563"/>
                </a:solidFill>
                <a:latin typeface="Arial"/>
              </a:rPr>
              <a:t>•  </a:t>
            </a:r>
            <a:r>
              <a:rPr sz="1350" b="1" i="0">
                <a:solidFill>
                  <a:srgbClr val="111827"/>
                </a:solidFill>
                <a:latin typeface="Arial"/>
              </a:rPr>
              <a:t>Respuesta con Qwen2.5: </a:t>
            </a:r>
            <a:r>
              <a:rPr sz="1350" b="0" i="0">
                <a:solidFill>
                  <a:srgbClr val="4B5563"/>
                </a:solidFill>
                <a:latin typeface="Arial"/>
              </a:rPr>
              <a:t>El modelo redacta usando solo el contexto hallado y mantiene memoria de los últimos 5 turnos.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1908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Asistente Inteligente de Seguros · Seguros Express  —  EP1 → EP2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Arial"/>
              </a:rPr>
              <a:t>Valor y Confiabilidad</a:t>
            </a:r>
          </a:p>
          <a:p>
            <a:pPr>
              <a:spcBef>
                <a:spcPts val="600"/>
              </a:spcBef>
            </a:pPr>
            <a:r>
              <a:rPr sz="1500" b="1" i="0">
                <a:solidFill>
                  <a:srgbClr val="4B5563"/>
                </a:solidFill>
                <a:latin typeface="Arial"/>
              </a:rPr>
              <a:t>Seguros Express — Beneficios Principales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28800"/>
            <a:ext cx="10911535" cy="9525"/>
          </a:xfrm>
          <a:prstGeom prst="rect">
            <a:avLst/>
          </a:prstGeom>
          <a:solidFill>
            <a:srgbClr val="E2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1153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0"/>
              </a:spcAft>
            </a:pPr>
            <a:r>
              <a:rPr sz="1700" b="1" i="0">
                <a:solidFill>
                  <a:srgbClr val="4B5563"/>
                </a:solidFill>
                <a:latin typeface="Arial"/>
              </a:rPr>
              <a:t>•  </a:t>
            </a:r>
            <a:r>
              <a:rPr sz="1700" b="1" i="0">
                <a:solidFill>
                  <a:srgbClr val="111827"/>
                </a:solidFill>
                <a:latin typeface="Arial"/>
              </a:rPr>
              <a:t>Respuestas fundamentadas: </a:t>
            </a:r>
            <a:r>
              <a:rPr sz="1700" b="0" i="0">
                <a:solidFill>
                  <a:srgbClr val="4B5563"/>
                </a:solidFill>
                <a:latin typeface="Arial"/>
              </a:rPr>
              <a:t>Todo lo que dice el asistente está respaldado por el manual oficial.</a:t>
            </a:r>
          </a:p>
          <a:p>
            <a:pPr>
              <a:spcAft>
                <a:spcPts val="2000"/>
              </a:spcAft>
            </a:pPr>
            <a:r>
              <a:rPr sz="1700" b="1" i="0">
                <a:solidFill>
                  <a:srgbClr val="4B5563"/>
                </a:solidFill>
                <a:latin typeface="Arial"/>
              </a:rPr>
              <a:t>•  </a:t>
            </a:r>
            <a:r>
              <a:rPr sz="1700" b="1" i="0">
                <a:solidFill>
                  <a:srgbClr val="111827"/>
                </a:solidFill>
                <a:latin typeface="Arial"/>
              </a:rPr>
              <a:t>Información trazable: </a:t>
            </a:r>
            <a:r>
              <a:rPr sz="1700" b="0" i="0">
                <a:solidFill>
                  <a:srgbClr val="4B5563"/>
                </a:solidFill>
                <a:latin typeface="Arial"/>
              </a:rPr>
              <a:t>Muestra el plan, las herramientas usadas y las fuentes del manual.</a:t>
            </a:r>
          </a:p>
          <a:p>
            <a:pPr>
              <a:spcAft>
                <a:spcPts val="2000"/>
              </a:spcAft>
            </a:pPr>
            <a:r>
              <a:rPr sz="1700" b="1" i="0">
                <a:solidFill>
                  <a:srgbClr val="4B5563"/>
                </a:solidFill>
                <a:latin typeface="Arial"/>
              </a:rPr>
              <a:t>•  </a:t>
            </a:r>
            <a:r>
              <a:rPr sz="1700" b="1" i="0">
                <a:solidFill>
                  <a:srgbClr val="111827"/>
                </a:solidFill>
                <a:latin typeface="Arial"/>
              </a:rPr>
              <a:t>Sin invención de datos: </a:t>
            </a:r>
            <a:r>
              <a:rPr sz="1700" b="0" i="0">
                <a:solidFill>
                  <a:srgbClr val="4B5563"/>
                </a:solidFill>
                <a:latin typeface="Arial"/>
              </a:rPr>
              <a:t>Si la respuesta no está en el manual, indica claramente que no la posee.</a:t>
            </a:r>
          </a:p>
          <a:p>
            <a:pPr>
              <a:spcAft>
                <a:spcPts val="2000"/>
              </a:spcAft>
            </a:pPr>
            <a:r>
              <a:rPr sz="1700" b="1" i="0">
                <a:solidFill>
                  <a:srgbClr val="4B5563"/>
                </a:solidFill>
                <a:latin typeface="Arial"/>
              </a:rPr>
              <a:t>•  </a:t>
            </a:r>
            <a:r>
              <a:rPr sz="1700" b="1" i="0">
                <a:solidFill>
                  <a:srgbClr val="111827"/>
                </a:solidFill>
                <a:latin typeface="Arial"/>
              </a:rPr>
              <a:t>Transparencia total: </a:t>
            </a:r>
            <a:r>
              <a:rPr sz="1700" b="0" i="0">
                <a:solidFill>
                  <a:srgbClr val="4B5563"/>
                </a:solidFill>
                <a:latin typeface="Arial"/>
              </a:rPr>
              <a:t>Evita alucinaciones y entrega máxima confianza al cliente.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Asistente Inteligente de Seguros · Seguros Express  —  EP1 → EP2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